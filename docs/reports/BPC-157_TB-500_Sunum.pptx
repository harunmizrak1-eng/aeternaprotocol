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Yazar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1467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9D8E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Sikirić grubu</c:v>
                </c:pt>
                <c:pt idx="1">
                  <c:v>Diğer gruplar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175</c:v>
                </c:pt>
                <c:pt idx="1">
                  <c:v>53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D1B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Timosin β4 %0,1</c:v>
                </c:pt>
              </c:strCache>
            </c:strRef>
          </c:tx>
          <c:spPr>
            <a:solidFill>
              <a:srgbClr val="0072B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Korneal boyanma</c:v>
                  </c:pt>
                  <c:pt idx="1">
                    <c:v>Oküler rahatsızlık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0.41</c:v>
                </c:pt>
                <c:pt idx="1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Plasebo</c:v>
                </c:pt>
              </c:strCache>
            </c:strRef>
          </c:tx>
          <c:spPr>
            <a:solidFill>
              <a:srgbClr val="B9C9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Korneal boyanma</c:v>
                  </c:pt>
                  <c:pt idx="1">
                    <c:v>Oküler rahatsızlık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0.46</c:v>
                </c:pt>
                <c:pt idx="1">
                  <c:v>0.4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9525" cap="flat">
              <a:solidFill>
                <a:srgbClr val="D9E2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7D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B7D"/>
                    </a:solidFill>
                    <a:latin typeface="Arial"/>
                  </a:rPr>
                  <a:t>15. günde düzelme (puan)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D1B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Sunum, kütüphanedeki BPC-157 ve TB-500 kayıtlarının arkasındaki kanıtı özetliyor. Veri kesim tarihi 15 Eylül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BPC-157 kütüphanede teorik, TB-500 preklinik kademesinde. Kart metinleri lib/peptides.ts kayıtlarından birebir alındı.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Doz basamakları kayıttan taşındı; sunum bunları öneri olarak sunmuyor.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iki düzeltme de lib/peptides.ts içinde yapılmalı. Kaynaklar: PMID 22962027 ve PMID 21548867.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Ürün sayfalarında ve forumlarda iki isim sıklıkla birbirinin yerine kullanılıyor. Kaynak: Esposito ve ark., Drug Test Anal 2012.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Sayım Eylül 2026 itibarıyla. Bağımsız derleme: Gwyer, Wragg ve Wilson, Cell Tissue Res 2019.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Kayıtlı birincil sonuçlar: inferior korneal boyanma −0,41 ve −0,46; oküler rahatsızlık −0,40 ve −0,40. Grafikte düzelmenin mutlak değeri gösteriliyor.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Endişe ve sorun giderme dili taşıyan gönderiler, açıkça olumlu dil taşıyanları 1,6’ya 1 oranında geçiyor. Olumsuz bildirimler STAT News derlemesinden.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Kaynaklar: PubMed (PMID ile), ClinicalTrials.gov (NCT ile), FDA belgeleri, STAT News Şubat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48640"/>
            <a:ext cx="1591056" cy="2651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2057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7FB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 Onarımı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239572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BPC-157 ve TB-500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327355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FC9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Kanıt bugün nerede duruyor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5760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Bileşik Kütüphanesi</a:t>
            </a:r>
            <a:pPr indent="0" marL="0">
              <a:buNone/>
            </a:pPr>
            <a:r>
              <a:rPr lang="en-US" sz="1200" dirty="0">
                <a:solidFill>
                  <a:srgbClr val="7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PEP-2026-01   ·   15 Eylül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ZPHC Türkiye · Bileşik Kütüphanesi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GÜNDEM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Beş başlık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64792"/>
            <a:ext cx="402336" cy="402336"/>
          </a:xfrm>
          <a:prstGeom prst="ellipse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17282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molekülün kimliği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728216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Kütüphane kayıtları, uygulama basamakları ve TB-500 ile timosin β4 ayrımı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402336" cy="402336"/>
          </a:xfrm>
          <a:prstGeom prst="ellipse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52728" y="25694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BPC-157 kanıt tabanı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56946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Hayvan verisi, literatürün kaynağı, insan çalışmaları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447288"/>
            <a:ext cx="402336" cy="402336"/>
          </a:xfrm>
          <a:prstGeom prst="ellipse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52728" y="3410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Timosin β4 insan verisi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341071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2 ve Faz 3 sonuçları, ARISE-3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4288536"/>
            <a:ext cx="402336" cy="402336"/>
          </a:xfrm>
          <a:prstGeom prst="ellipse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4288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52728" y="4251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Düzenleyici durum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425196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2023–2026 ve WADA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5129784"/>
            <a:ext cx="402336" cy="402336"/>
          </a:xfrm>
          <a:prstGeom prst="ellipse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5129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52728" y="5093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toplulukları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509320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şikâyetler için kullanılıyor, ne bildiriliyor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ZPHC Türkiye · Bileşik Kütüphanesi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Kütüphane kayıtları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528066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BPC-157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000500" y="1956816"/>
            <a:ext cx="1554480" cy="237744"/>
          </a:xfrm>
          <a:prstGeom prst="roundRect">
            <a:avLst>
              <a:gd name="adj" fmla="val 46154"/>
            </a:avLst>
          </a:prstGeom>
          <a:solidFill>
            <a:srgbClr val="FBF1DE"/>
          </a:solidFill>
          <a:ln w="12700">
            <a:solidFill>
              <a:srgbClr val="FBF1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00500" y="19568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MEKANİSTİK / TEORİK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2395728"/>
            <a:ext cx="4640580" cy="347472"/>
          </a:xfrm>
          <a:prstGeom prst="roundRect">
            <a:avLst>
              <a:gd name="adj" fmla="val 13158"/>
            </a:avLst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395728"/>
            <a:ext cx="4640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4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GEPPPGKPADDAGLV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852928"/>
            <a:ext cx="4640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aminoasit · 1.419,53 Da · yarı ömür &lt;30 dakika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246120"/>
            <a:ext cx="4640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Kayıttaki tanım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474720"/>
            <a:ext cx="46405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"Gastrik mukozadan izole pentadekapeptit. Anjiyogenez ve doku onarımını desteklediği düşünülüyor. Mekanizması güçlü, geniş insan çalışması yok."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828032"/>
            <a:ext cx="4640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durum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056632"/>
            <a:ext cx="4640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"Mekanizma güçlü, kontrollü insan çalışması yok."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86500" y="1691640"/>
            <a:ext cx="528066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60654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TB-500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692640" y="1956816"/>
            <a:ext cx="1554480" cy="237744"/>
          </a:xfrm>
          <a:prstGeom prst="roundRect">
            <a:avLst>
              <a:gd name="adj" fmla="val 46154"/>
            </a:avLst>
          </a:prstGeom>
          <a:solidFill>
            <a:srgbClr val="FAEBE3"/>
          </a:solidFill>
          <a:ln w="12700">
            <a:solidFill>
              <a:srgbClr val="FAEB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92640" y="19568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PREKLİNİK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06540" y="2395728"/>
            <a:ext cx="4640580" cy="347472"/>
          </a:xfrm>
          <a:prstGeom prst="roundRect">
            <a:avLst>
              <a:gd name="adj" fmla="val 13158"/>
            </a:avLst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06540" y="2395728"/>
            <a:ext cx="4640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4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Ac-LKKTETQ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06540" y="2852928"/>
            <a:ext cx="4640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aminoasit · ≈889 Da · Tβ4’ün 17–23 fragmanı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606540" y="3246120"/>
            <a:ext cx="4640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Kayıttaki tanım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606540" y="3474720"/>
            <a:ext cx="46405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"Thymosin Beta-4 fragmanı. Doku rejenerasyonunu desteklediği düşünülüyor. İnsan verisi neredeyse yok, kanıt büyük ölçüde hayvan çalışmalarına dayalı."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06540" y="4828032"/>
            <a:ext cx="4640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durum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606540" y="5056632"/>
            <a:ext cx="4640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"Preklinik aşama."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583387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Metinler sitedeki bileşik kayıtlarından alınmıştır.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ZPHC Türkiye · Bileşik Kütüphanesi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Kayıttaki uygulama basamakları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219456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Bileşik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Basamak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Miktar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Sıklık ve yol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BPC-157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İdame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mcg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Günde 1 kez, subkutan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iyileşme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250–500 mcg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Günde 1–2 kez, subkutan / kas içi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Ciddi yaralanma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500–1000 mcg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Günde 2 kez, bölgeye yakın subkutan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TB-500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İdame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Haftada 1–2 kez, subkutan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doku onarımı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Haftada 2 kez, subkutan / kas içi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Ciddi yaralanma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 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Haftada 3 kez, bölgeye yakın subkutan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436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Değerler kütüphane kayıtlarından olduğu gibi aktarılmıştır. Bu sunumda türetilmemiş, hesaplanmamış ve önerilmemiştir.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ZPHC Türkiye · Bileşik Kütüphanesi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Kayıtlarda düzeltilecek iki değer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28066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4640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TB-500 moleküler ağırlığı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487168"/>
            <a:ext cx="4640580" cy="384048"/>
          </a:xfrm>
          <a:prstGeom prst="roundRect">
            <a:avLst>
              <a:gd name="adj" fmla="val 11905"/>
            </a:avLst>
          </a:prstGeom>
          <a:solidFill>
            <a:srgbClr val="FAEBE3"/>
          </a:solidFill>
          <a:ln w="12700">
            <a:solidFill>
              <a:srgbClr val="FAEB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487168"/>
            <a:ext cx="4640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Kayıt: 43 aminoasit / 4.963,44 Da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063240"/>
            <a:ext cx="46405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değerler tam uzunluklu timosin β4’e ait. Piyasada TB-500 adıyla satılan materyal, doping kontrol laboratuvarında Ac-LKKTETQ (7 aminoasit, ≈889 Da) olarak tanımlandı.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709160"/>
            <a:ext cx="4640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Esposito ve ark. 2012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86500" y="1783080"/>
            <a:ext cx="528066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606540" y="2011680"/>
            <a:ext cx="4640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BPC-157 dizisi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06540" y="2487168"/>
            <a:ext cx="4640580" cy="384048"/>
          </a:xfrm>
          <a:prstGeom prst="roundRect">
            <a:avLst>
              <a:gd name="adj" fmla="val 11905"/>
            </a:avLst>
          </a:prstGeom>
          <a:solidFill>
            <a:srgbClr val="FAEBE3"/>
          </a:solidFill>
          <a:ln w="12700">
            <a:solidFill>
              <a:srgbClr val="FAEB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06540" y="2487168"/>
            <a:ext cx="4640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Kayıt: GKPPPGKPADDAGLV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06540" y="3063240"/>
            <a:ext cx="46405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Literatürdeki dizi GEPPPGKPADDAGLV. İkinci pozisyondaki aminoasit glutamik asit (E), lizin (K) değil.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06540" y="4709160"/>
            <a:ext cx="4640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Sikirić ve ark. 2011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ZPHC Türkiye · Bileşik Kütüphanesi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TB-500 ile timosin β4 aynı molekül değil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528066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920240"/>
            <a:ext cx="4640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Timosin β4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67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aminoasit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4505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≈4.963 Da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310128"/>
            <a:ext cx="46405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Metiyonin içerir · doğal asetilasyon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703320"/>
            <a:ext cx="4640580" cy="384048"/>
          </a:xfrm>
          <a:prstGeom prst="roundRect">
            <a:avLst>
              <a:gd name="adj" fmla="val 11905"/>
            </a:avLst>
          </a:prstGeom>
          <a:solidFill>
            <a:srgbClr val="E2F2EB"/>
          </a:solidFill>
          <a:ln w="12700">
            <a:solidFill>
              <a:srgbClr val="E2F2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703320"/>
            <a:ext cx="4640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 Faz 2 ve Faz 3 verisi var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86500" y="1737360"/>
            <a:ext cx="528066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606540" y="1920240"/>
            <a:ext cx="4640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TB-500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606540" y="2286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84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838962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aminoasit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89620" y="24505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≈889 Da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606540" y="3310128"/>
            <a:ext cx="46405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Metiyonin içermez · sentetik asetilasyon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06540" y="3703320"/>
            <a:ext cx="4640580" cy="384048"/>
          </a:xfrm>
          <a:prstGeom prst="roundRect">
            <a:avLst>
              <a:gd name="adj" fmla="val 11905"/>
            </a:avLst>
          </a:prstGeom>
          <a:solidFill>
            <a:srgbClr val="FAEBE3"/>
          </a:solidFill>
          <a:ln w="12700">
            <a:solidFill>
              <a:srgbClr val="FAEB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06540" y="3703320"/>
            <a:ext cx="4640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başına insan verisi yok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4754880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F1F7FB"/>
          </a:solidFill>
          <a:ln w="9525">
            <a:solidFill>
              <a:srgbClr val="F1F7FB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60120" y="47548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4.074 Da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kütle farkı — elementel bileşim de farklı. Timosin β4 üzerine yapılmış insan çalışmaları TB-500’ün etkinliğine kanıt sayılmaz.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ZPHC Türkiye · Bileşik Kütüphanesi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BPC-157: hayvan modellerinde bildirilenler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34137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002536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86584"/>
            <a:ext cx="286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Kesilmiş Aşil tendonunda iyileşmenin hızlanması; fibroblast göçünde artış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3880" y="1783080"/>
            <a:ext cx="34137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48200" y="2002536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48200" y="2386584"/>
            <a:ext cx="286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Miyotendinöz bileşkenin tam kesisi sonrası fonksiyonel toparlanma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3400" y="1783080"/>
            <a:ext cx="34137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27720" y="2002536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Bağırsak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427720" y="2386584"/>
            <a:ext cx="286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Alkol ve NSAİİ lezyonlarında koruma; geçirgenliğin stabilizasyonu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749040"/>
            <a:ext cx="34137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3968496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Damar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352544"/>
            <a:ext cx="286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Tıkalı damarda kollateral yolakların devreye girmesi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73880" y="3749040"/>
            <a:ext cx="34137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648200" y="3968496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Sinir sistemi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648200" y="4352544"/>
            <a:ext cx="286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İnme ve spinal kord basısı modellerinde davranışsal düzelme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53400" y="3749040"/>
            <a:ext cx="34137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427720" y="3968496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Cilt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427720" y="4352544"/>
            <a:ext cx="286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 yarası, derin yanık ve diyabetik ülser modellerinde iyileşme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5623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Etki, uygulama yolundan büyük ölçüde bağımsız bildirilmiş: karın içi, içme suyunda oral ve doğrudan bölgeye.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ZPHC Türkiye · Bileşik Kütüphanesi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Literatür tek merkezden geliyor</a:t>
            </a:r>
            <a:endParaRPr lang="en-US" sz="3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691640"/>
          <a:ext cx="4754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23560" y="18288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%77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30632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PubMed’de “BPC 157” sorgusunun döndürdüğü 228 kaydın 175’inde Predrag Sikirić yazarlar arasında.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23560" y="3886200"/>
            <a:ext cx="5943600" cy="1737360"/>
          </a:xfrm>
          <a:prstGeom prst="roundRect">
            <a:avLst>
              <a:gd name="adj" fmla="val 3158"/>
            </a:avLst>
          </a:prstGeom>
          <a:solidFill>
            <a:srgbClr val="F1F7FB"/>
          </a:solidFill>
          <a:ln w="9525">
            <a:solidFill>
              <a:srgbClr val="F1F7FB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989320" y="40690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replikasyon, bir bileşiği preklinikten kliniğe taşıyan filtredir: farklı laboratuvarların, farklı hayvan kolonileriyle ve farklı değerlendiricilerle aynı sonuca ulaşması. Bağımsız bir gruptan gelen 2019 tarihli derleme de çalışmaların çoğunun küçük kemirgen modellerinde yapıldığını belirtiyor.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ZPHC Türkiye · Bileşik Kütüphanesi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BPC-157 insan çalışmaları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371600"/>
                <a:gridCol w="1554480"/>
                <a:gridCol w="4663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Çalışma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 /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4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Pliva ülseratif kolit programı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Tamamlanmadı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Birincil raporlar büyük veri tabanlarında indekslenmemiş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PCO-02  ·  NCT02637284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 1 · 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Bilinmeyen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form; 2015’te başladı, sonuç yayımlanmadı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Küçük klinik seriler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2–16 kişi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Yayımlanmış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Karşılaştırma grubu yok; toplam denek sayısı yaklaşık 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Hamstring zorlanması  ·  NCT07437547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 2 · 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Yürüyor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Randomize, çift kör, plasebo kontrollü. Sonuç: Şubat 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Rotator manşet onarımı  ·  NCT07803250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 1 · 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Başlamadı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Planlanan başlangıç Ocak 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892040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F1F7FB"/>
          </a:solidFill>
          <a:ln w="9525">
            <a:solidFill>
              <a:srgbClr val="F1F7FB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60120" y="48920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Yayımlanmış, randomize, plasebo kontrollü bir insan çalışması bugün itibarıyla yok. NCT07437547 bu boşluğu kapatmaya aday ilk çalışma.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ZPHC Türkiye · Bileşik Kütüphanesi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Timosin β4 insan çalışmaları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822960"/>
                <a:gridCol w="822960"/>
                <a:gridCol w="5486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Çalışma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Venöz staz ülseri  ·  NCT00832091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%0,03 dozda sinyal; üç ayda hastaların dörtte birinde tam kapanma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Bası yarası  ·  NCT00382174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İyileşmede hızlanma bildirildi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Kuru göz  ·  NCT01387347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Birincil sonlanım noktaları karşılanmadı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ARISE-2  ·  NCT02974907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Tamamlandı, sonuçlar kayıtlı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ARISE-3  ·  NCT03937882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Birincil sonlanım noktalarında plaseboya üstünlük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Sağlıklı gönüllü  ·  NCT04555824 /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İntravenöz rekombinant Tβ4 iyi tolere edildi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4360" y="4983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uzunluklu timosin β4 iki geliştirme programına konu oldu: RegeneRx kronik yara ve göz yüzeyinde, Northland Biotech rekombinant formla kardiyolojide.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ZPHC Türkiye · Bileşik Kütüphanesi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ARISE-3: 700 hasta, iki kol, aynı sonuç</a:t>
            </a:r>
            <a:endParaRPr lang="en-US" sz="3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3736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26680" y="1783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Randomize, çift kör, dörtlü körleme, 14 gün tedavi. Birincil sonlanım noktalarında iki kol örtüşüyor.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26680" y="269748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1F7FB"/>
          </a:solidFill>
          <a:ln w="9525">
            <a:solidFill>
              <a:srgbClr val="F1F7FB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46720" y="28803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programın daha küçük Faz 2 çalışması da birincil noktalarını kaçırmış, yalnızca ikincil noktalarda anlamlılık bildirmişti.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44348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Çalışma büyüdükçe ve körleme sıkılaştıkça, küçük çalışmalarda görülen olumlu sinyaller kayboldu.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ZPHC Türkiye · Bileşik Kütüphanesi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FDA: 2023’ten bugüne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2503170" cy="26974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377440"/>
            <a:ext cx="420624" cy="420624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44368"/>
            <a:ext cx="19545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 yıl sonu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20440"/>
            <a:ext cx="195453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BPC-157, 503A listesinin Kategori 2’sine alınır. Eczanelerin bileşik hazırlamada kullanması durur.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17570" y="2148840"/>
            <a:ext cx="2503170" cy="26974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91890" y="2377440"/>
            <a:ext cx="420624" cy="420624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9189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91890" y="2944368"/>
            <a:ext cx="19545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Nisan 2026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91890" y="3520440"/>
            <a:ext cx="195453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BPC-157 ve TB-500 dahil 12 peptit Kategori 2’den çıkarılır. Gerekçe teknik: adaylıklar geri çekilmiştir.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40780" y="2148840"/>
            <a:ext cx="2503170" cy="26974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5100" y="2377440"/>
            <a:ext cx="420624" cy="420624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510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15100" y="2944368"/>
            <a:ext cx="19545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23–24 Temmuz 2026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15100" y="3520440"/>
            <a:ext cx="195453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 komitesi yedi peptitten altısını 503A listesine önerir. BPC-157 ve TB-500 için oylama 8’e 6, bir çekimser.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63990" y="2148840"/>
            <a:ext cx="2503170" cy="26974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38310" y="2377440"/>
            <a:ext cx="420624" cy="420624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3831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338310" y="2944368"/>
            <a:ext cx="19545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Eylül 2026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338310" y="3520440"/>
            <a:ext cx="195453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nihai kararını vermedi. Resmî düzenleme süreci 8–12 ay sürüyor; beklenti 2027.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5349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Komite, FDA’nın kendi uzmanlarının yazılı olumsuz değerlendirmesinin aksine oy kullandı.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ZPHC Türkiye · Bileşik Kütüphanesi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Kategori 2’den çıkmak izin anlamına gelmiyor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503A kapsamında bir maddenin bileşik hazırlamada kullanılabilmesi için üç şarttan birinin sağlanması gerekiyor.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286000"/>
            <a:ext cx="34137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86968" y="2514600"/>
            <a:ext cx="2828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USP monografı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2907792"/>
            <a:ext cx="282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Maddenin resmî farmakope monografında tanımlı olması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86968" y="3749040"/>
            <a:ext cx="1600200" cy="237744"/>
          </a:xfrm>
          <a:prstGeom prst="roundRect">
            <a:avLst>
              <a:gd name="adj" fmla="val 46154"/>
            </a:avLst>
          </a:prstGeom>
          <a:solidFill>
            <a:srgbClr val="FAEBE3"/>
          </a:solidFill>
          <a:ln w="12700">
            <a:solidFill>
              <a:srgbClr val="FAEB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" y="37490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KARŞILANMIYOR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73880" y="2286000"/>
            <a:ext cx="34137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66488" y="2514600"/>
            <a:ext cx="2828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Onaylı ilaç bileşeni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66488" y="2907792"/>
            <a:ext cx="282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onaylı bir ilacın içeriğinde yer alması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6488" y="3749040"/>
            <a:ext cx="1600200" cy="237744"/>
          </a:xfrm>
          <a:prstGeom prst="roundRect">
            <a:avLst>
              <a:gd name="adj" fmla="val 46154"/>
            </a:avLst>
          </a:prstGeom>
          <a:solidFill>
            <a:srgbClr val="FAEBE3"/>
          </a:solidFill>
          <a:ln w="12700">
            <a:solidFill>
              <a:srgbClr val="FAEB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6488" y="37490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KARŞILANMIYOR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53400" y="2286000"/>
            <a:ext cx="34137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446008" y="2514600"/>
            <a:ext cx="2828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Kategori 1 listesi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446008" y="2907792"/>
            <a:ext cx="282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FDA’nın bileşik hazırlamaya uygun bulduğu listede olması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46008" y="3749040"/>
            <a:ext cx="1600200" cy="237744"/>
          </a:xfrm>
          <a:prstGeom prst="roundRect">
            <a:avLst>
              <a:gd name="adj" fmla="val 46154"/>
            </a:avLst>
          </a:prstGeom>
          <a:solidFill>
            <a:srgbClr val="FAEBE3"/>
          </a:solidFill>
          <a:ln w="12700">
            <a:solidFill>
              <a:srgbClr val="FAEB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46008" y="37490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KARŞILANMIYOR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4526280"/>
            <a:ext cx="10972800" cy="1188720"/>
          </a:xfrm>
          <a:prstGeom prst="roundRect">
            <a:avLst>
              <a:gd name="adj" fmla="val 4615"/>
            </a:avLst>
          </a:prstGeom>
          <a:solidFill>
            <a:srgbClr val="F1F7FB"/>
          </a:solidFill>
          <a:ln w="9525">
            <a:solidFill>
              <a:srgbClr val="F1F7FB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60120" y="452628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 komitesi oyu bağlayıcı değil; nihai yetki FDA’da. Türkiye’de TİTCK, AB’de EMA onayı da bulunmuyor.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ZPHC Türkiye · Bileşik Kütüphanesi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FB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Sporcular için tablo net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5280660" cy="1371600"/>
          </a:xfrm>
          <a:prstGeom prst="roundRect">
            <a:avLst>
              <a:gd name="adj" fmla="val 4000"/>
            </a:avLst>
          </a:prstGeom>
          <a:solidFill>
            <a:srgbClr val="0A4467"/>
          </a:solidFill>
          <a:ln w="12700">
            <a:solidFill>
              <a:srgbClr val="0A44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48840"/>
            <a:ext cx="4640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BPC-157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06040"/>
            <a:ext cx="4640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— onaylanmamış maddeler  ·  S2.3 — büyüme faktörleri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86500" y="1920240"/>
            <a:ext cx="5280660" cy="1371600"/>
          </a:xfrm>
          <a:prstGeom prst="roundRect">
            <a:avLst>
              <a:gd name="adj" fmla="val 4000"/>
            </a:avLst>
          </a:prstGeom>
          <a:solidFill>
            <a:srgbClr val="0A4467"/>
          </a:solidFill>
          <a:ln w="12700">
            <a:solidFill>
              <a:srgbClr val="0A446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06540" y="2148840"/>
            <a:ext cx="4640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TB-500 / timosin β4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606540" y="2606040"/>
            <a:ext cx="4640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— onaylanmamış maddeler  ·  S2.3 — büyüme faktörleri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657600"/>
            <a:ext cx="310896" cy="310896"/>
          </a:xfrm>
          <a:prstGeom prst="ellipse">
            <a:avLst/>
          </a:prstGeom>
          <a:solidFill>
            <a:srgbClr val="0A4467"/>
          </a:solidFill>
          <a:ln w="12700">
            <a:solidFill>
              <a:srgbClr val="0A446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B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zaman yasaklı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6118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Yarışma içi ve yarışma dışı, ayrım yok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224528"/>
            <a:ext cx="310896" cy="310896"/>
          </a:xfrm>
          <a:prstGeom prst="ellipse">
            <a:avLst/>
          </a:prstGeom>
          <a:solidFill>
            <a:srgbClr val="0A4467"/>
          </a:solidFill>
          <a:ln w="12700">
            <a:solidFill>
              <a:srgbClr val="0A446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B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178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Belirlenmiş madde değil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251960" y="41788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Yaptırımlar daha ağır uygulanıyor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4791456"/>
            <a:ext cx="310896" cy="310896"/>
          </a:xfrm>
          <a:prstGeom prst="ellipse">
            <a:avLst/>
          </a:prstGeom>
          <a:solidFill>
            <a:srgbClr val="0A4467"/>
          </a:solidFill>
          <a:ln w="12700">
            <a:solidFill>
              <a:srgbClr val="0A446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791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B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745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Analitik tespit mümkün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51960" y="47457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BPC-157 akredite laboratuvarda kütle spektrometrisiyle saptanıyor; idrar metabolitleri birkaç gün kalıyor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5358384"/>
            <a:ext cx="310896" cy="310896"/>
          </a:xfrm>
          <a:prstGeom prst="ellipse">
            <a:avLst/>
          </a:prstGeom>
          <a:solidFill>
            <a:srgbClr val="0A4467"/>
          </a:solidFill>
          <a:ln w="12700">
            <a:solidFill>
              <a:srgbClr val="0A446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5358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B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5312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kararından bağımsız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251960" y="53126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Bileşik hazırlama düzenlemesi WADA listesini değiştirmiyor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ZPHC Türkiye · Bileşik Kütüphanesi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Toplulukta bildirilen kullanım alanları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3413760" cy="3794760"/>
          </a:xfrm>
          <a:prstGeom prst="roundRect">
            <a:avLst>
              <a:gd name="adj" fmla="val 1607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938528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Kas-iskelet sistemi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31136"/>
            <a:ext cx="286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yaygın küme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60320"/>
            <a:ext cx="172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Tenisçi ve golfçü dirseği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90800" y="2606040"/>
            <a:ext cx="1143000" cy="237744"/>
          </a:xfrm>
          <a:prstGeom prst="roundRect">
            <a:avLst>
              <a:gd name="adj" fmla="val 46154"/>
            </a:avLst>
          </a:prstGeom>
          <a:solidFill>
            <a:srgbClr val="FAEBE3"/>
          </a:solidFill>
          <a:ln w="12700">
            <a:solidFill>
              <a:srgbClr val="FAEB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90800" y="260604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108960"/>
            <a:ext cx="172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Aşil tendinopatisi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90800" y="3154680"/>
            <a:ext cx="1143000" cy="237744"/>
          </a:xfrm>
          <a:prstGeom prst="roundRect">
            <a:avLst>
              <a:gd name="adj" fmla="val 46154"/>
            </a:avLst>
          </a:prstGeom>
          <a:solidFill>
            <a:srgbClr val="FAEBE3"/>
          </a:solidFill>
          <a:ln w="12700">
            <a:solidFill>
              <a:srgbClr val="FAEB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90800" y="31546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657600"/>
            <a:ext cx="172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Rotator manşet, omuz ağrısı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90800" y="3703320"/>
            <a:ext cx="1143000" cy="237744"/>
          </a:xfrm>
          <a:prstGeom prst="roundRect">
            <a:avLst>
              <a:gd name="adj" fmla="val 46154"/>
            </a:avLst>
          </a:prstGeom>
          <a:solidFill>
            <a:srgbClr val="FAEBE3"/>
          </a:solidFill>
          <a:ln w="12700">
            <a:solidFill>
              <a:srgbClr val="FAEB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90800" y="37033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206240"/>
            <a:ext cx="172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Patellar tendinopati, diz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90800" y="4251960"/>
            <a:ext cx="1143000" cy="237744"/>
          </a:xfrm>
          <a:prstGeom prst="roundRect">
            <a:avLst>
              <a:gd name="adj" fmla="val 46154"/>
            </a:avLst>
          </a:prstGeom>
          <a:solidFill>
            <a:srgbClr val="FAEBE3"/>
          </a:solidFill>
          <a:ln w="12700">
            <a:solidFill>
              <a:srgbClr val="FAEB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90800" y="42519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754880"/>
            <a:ext cx="172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 zorlanması, ameliyat sonrası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90800" y="4800600"/>
            <a:ext cx="1143000" cy="237744"/>
          </a:xfrm>
          <a:prstGeom prst="roundRect">
            <a:avLst>
              <a:gd name="adj" fmla="val 46154"/>
            </a:avLst>
          </a:prstGeom>
          <a:solidFill>
            <a:srgbClr val="FBF1DE"/>
          </a:solidFill>
          <a:ln w="12700">
            <a:solidFill>
              <a:srgbClr val="FBF1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90800" y="480060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YÜRÜYOR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73880" y="1737360"/>
            <a:ext cx="3413760" cy="3794760"/>
          </a:xfrm>
          <a:prstGeom prst="roundRect">
            <a:avLst>
              <a:gd name="adj" fmla="val 1607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648200" y="1938528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Gastrointestinal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4648200" y="2560320"/>
            <a:ext cx="172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Bağırsak geçirgenliği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70320" y="2606040"/>
            <a:ext cx="1143000" cy="237744"/>
          </a:xfrm>
          <a:prstGeom prst="roundRect">
            <a:avLst>
              <a:gd name="adj" fmla="val 46154"/>
            </a:avLst>
          </a:prstGeom>
          <a:solidFill>
            <a:srgbClr val="FAEBE3"/>
          </a:solidFill>
          <a:ln w="12700">
            <a:solidFill>
              <a:srgbClr val="FAEB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70320" y="260604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648200" y="3108960"/>
            <a:ext cx="172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İBS semptomları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70320" y="3154680"/>
            <a:ext cx="1143000" cy="237744"/>
          </a:xfrm>
          <a:prstGeom prst="roundRect">
            <a:avLst>
              <a:gd name="adj" fmla="val 46154"/>
            </a:avLst>
          </a:prstGeom>
          <a:solidFill>
            <a:srgbClr val="FAEBE3"/>
          </a:solidFill>
          <a:ln w="12700">
            <a:solidFill>
              <a:srgbClr val="FAEB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70320" y="31546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648200" y="3657600"/>
            <a:ext cx="172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NSAİİ kaynaklı hasar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70320" y="3703320"/>
            <a:ext cx="1143000" cy="237744"/>
          </a:xfrm>
          <a:prstGeom prst="roundRect">
            <a:avLst>
              <a:gd name="adj" fmla="val 46154"/>
            </a:avLst>
          </a:prstGeom>
          <a:solidFill>
            <a:srgbClr val="FAEBE3"/>
          </a:solidFill>
          <a:ln w="12700">
            <a:solidFill>
              <a:srgbClr val="FAEB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70320" y="37033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648200" y="4206240"/>
            <a:ext cx="172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Ülseratif kolit, Crohn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70320" y="4251960"/>
            <a:ext cx="1143000" cy="237744"/>
          </a:xfrm>
          <a:prstGeom prst="roundRect">
            <a:avLst>
              <a:gd name="adj" fmla="val 46154"/>
            </a:avLst>
          </a:prstGeom>
          <a:solidFill>
            <a:srgbClr val="FAEBE3"/>
          </a:solidFill>
          <a:ln w="12700">
            <a:solidFill>
              <a:srgbClr val="FAEBE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70320" y="42519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 YOK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53400" y="1737360"/>
            <a:ext cx="3413760" cy="3794760"/>
          </a:xfrm>
          <a:prstGeom prst="roundRect">
            <a:avLst>
              <a:gd name="adj" fmla="val 1607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8427720" y="1938528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Diğer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8427720" y="2560320"/>
            <a:ext cx="172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Kronik ağrı, eklem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149840" y="2606040"/>
            <a:ext cx="1143000" cy="237744"/>
          </a:xfrm>
          <a:prstGeom prst="roundRect">
            <a:avLst>
              <a:gd name="adj" fmla="val 46154"/>
            </a:avLst>
          </a:prstGeom>
          <a:solidFill>
            <a:srgbClr val="FAEBE3"/>
          </a:solidFill>
          <a:ln w="12700">
            <a:solidFill>
              <a:srgbClr val="FAEBE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149840" y="260604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8427720" y="3108960"/>
            <a:ext cx="172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Uyku, ruh hali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149840" y="3154680"/>
            <a:ext cx="1143000" cy="237744"/>
          </a:xfrm>
          <a:prstGeom prst="roundRect">
            <a:avLst>
              <a:gd name="adj" fmla="val 46154"/>
            </a:avLst>
          </a:prstGeom>
          <a:solidFill>
            <a:srgbClr val="FAEBE3"/>
          </a:solidFill>
          <a:ln w="12700">
            <a:solidFill>
              <a:srgbClr val="FAEBE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149840" y="31546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8427720" y="3657600"/>
            <a:ext cx="172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Cilt yaraları, skar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149840" y="3703320"/>
            <a:ext cx="1143000" cy="237744"/>
          </a:xfrm>
          <a:prstGeom prst="roundRect">
            <a:avLst>
              <a:gd name="adj" fmla="val 46154"/>
            </a:avLst>
          </a:prstGeom>
          <a:solidFill>
            <a:srgbClr val="FAEBE3"/>
          </a:solidFill>
          <a:ln w="12700">
            <a:solidFill>
              <a:srgbClr val="FAEBE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149840" y="37033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594360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 sütun, o alanda yayımlanmış insan verisinin durumunu gösteriyor. “Yok”, bileşiğin etkisiz olduğunu değil, insanda test edilmediğini ifade ediyor.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ZPHC Türkiye · Bileşik Kütüphanesi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14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Gönderiler ne hakkında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F1F7FB"/>
          </a:solidFill>
          <a:ln w="9525">
            <a:solidFill>
              <a:srgbClr val="F1F7FB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828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%43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78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 ve titrasyon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73736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F1F7FB"/>
          </a:solidFill>
          <a:ln w="9525">
            <a:solidFill>
              <a:srgbClr val="F1F7FB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703320" y="1828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%24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578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bildirimi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F1F7FB"/>
          </a:solidFill>
          <a:ln w="9525">
            <a:solidFill>
              <a:srgbClr val="F1F7FB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37960" y="1828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%22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578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 etki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98280" y="173736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F1F7FB"/>
          </a:solidFill>
          <a:ln w="9525">
            <a:solidFill>
              <a:srgbClr val="F1F7FB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372600" y="1828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%20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372600" y="2578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tedarikçi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291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alt forumdan 1.667 gönderinin etiketlenmesine dayanan kamuya açık analiz.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3749040"/>
            <a:ext cx="52806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3950208"/>
            <a:ext cx="4640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Bildirilen olumlu temalar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315968"/>
            <a:ext cx="46405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Ağrıda azalma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Egzersiz toleransında artış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Akut yaralanmalarda beklenenden hızlı toparlanma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86500" y="3749040"/>
            <a:ext cx="52806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  <a:effectLst>
            <a:outerShdw sx="100000" sy="100000" kx="0" ky="0" algn="bl" rotWithShape="0" blurRad="127000" dist="25400" dir="5400000">
              <a:srgbClr val="0D1B2A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606540" y="3950208"/>
            <a:ext cx="4640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Bildirilen olumsuz deneyimler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606540" y="4315968"/>
            <a:ext cx="46405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Kaşıntı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Belirgin anksiyete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alamama hâli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ZPHC Türkiye · Bileşik Kütüphanesi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FB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Kanıt bugün nerede duruyor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5280660" cy="2103120"/>
          </a:xfrm>
          <a:prstGeom prst="roundRect">
            <a:avLst>
              <a:gd name="adj" fmla="val 2609"/>
            </a:avLst>
          </a:prstGeom>
          <a:solidFill>
            <a:srgbClr val="0A4467"/>
          </a:solidFill>
          <a:ln w="12700">
            <a:solidFill>
              <a:srgbClr val="0A44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03120"/>
            <a:ext cx="4640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BPC-157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23744"/>
            <a:ext cx="4640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7FB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MEKANİSTİK / TEORİK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80360"/>
            <a:ext cx="46405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 ve tutarlı bir preklinik dosyası var; dosyanın dörtte üçü tek bir araştırma grubundan geliyor. Yayımlanmış insan RKÇ’si bulunmuyor.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86500" y="1874520"/>
            <a:ext cx="5280660" cy="2103120"/>
          </a:xfrm>
          <a:prstGeom prst="roundRect">
            <a:avLst>
              <a:gd name="adj" fmla="val 2609"/>
            </a:avLst>
          </a:prstGeom>
          <a:solidFill>
            <a:srgbClr val="0A4467"/>
          </a:solidFill>
          <a:ln w="12700">
            <a:solidFill>
              <a:srgbClr val="0A446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06540" y="2103120"/>
            <a:ext cx="4640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TB-500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606540" y="2523744"/>
            <a:ext cx="4640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7FB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PREKLİNİK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606540" y="2880360"/>
            <a:ext cx="46405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başına insan verisi yok. Ana molekülü timosin β4’ün dosyası fragmana aktarılamıyor ve en güçlü test edildiği yerde plaseboyu geçemedi.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3159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Kanıt eksikliği ile kanıtlanmış etkisizlik ayrı şeyler. BPC-157 için bugün geçerli ifade: insanlarda işe yarayıp yaramadığı bilinmiyor.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2026’daki düzenleyici gelişmeler bir erişim ve yetki tartışması; yeni etkinlik verisi üretmediler.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544068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0A4467"/>
          </a:solidFill>
          <a:ln w="12700">
            <a:solidFill>
              <a:srgbClr val="0A446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4406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Şubat 2027  </a:t>
            </a:r>
            <a:pPr indent="0" marL="0">
              <a:buNone/>
            </a:pPr>
            <a:r>
              <a:rPr lang="en-US" sz="1300" dirty="0">
                <a:solidFill>
                  <a:srgbClr val="B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NCT07437547 — BPC-157’nin ilk randomize plasebo kontrollü Faz 2 sonucu. Sunum o tarihte güncellenecek.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ZPHC Türkiye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BPC-157 ve TB-500 — Kanıt Durumu</dc:title>
  <dc:subject>PptxGenJS Presentation</dc:subject>
  <dc:creator>ZPHC Türkiye</dc:creator>
  <cp:lastModifiedBy>ZPHC Türkiye</cp:lastModifiedBy>
  <cp:revision>1</cp:revision>
  <dcterms:created xsi:type="dcterms:W3CDTF">2026-09-15T21:44:00Z</dcterms:created>
  <dcterms:modified xsi:type="dcterms:W3CDTF">2026-09-15T21:44:00Z</dcterms:modified>
</cp:coreProperties>
</file>